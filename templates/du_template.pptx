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CÍM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slide_main_title  : főcím (max. 2–3 sor, Garamond 34pt fehér)</a:t>
            </a:r>
          </a:p>
          <a:p>
            <a:r>
              <a:t>slide_subtitle    : tantárgy / intézet (Calibri 15pt, dőlt, szürke)</a:t>
            </a:r>
          </a:p>
          <a:p>
            <a:r>
              <a:t>footer_author     : előadó neve</a:t>
            </a:r>
          </a:p>
          <a:p>
            <a:r>
              <a:t>footer_date       : dátum (ÉÉÉÉ.HH.NN. formátum)</a:t>
            </a:r>
          </a:p>
          <a:p>
            <a:r>
              <a:t>watermark_logo    : vízjel logó – NE töröld; opacity XML-ben van</a:t>
            </a:r>
          </a:p>
          <a:p>
            <a:r>
              <a:t>logo_small        : kis logó jobb felső sarokba</a:t>
            </a:r>
          </a:p>
          <a:p/>
          <a:p>
            <a:r>
              <a:t>Cowork utasítás példa:</a:t>
            </a:r>
          </a:p>
          <a:p>
            <a:r>
              <a:t>  'Cseréld le a slide_main_title szövegét erre: ...'</a:t>
            </a:r>
          </a:p>
          <a:p>
            <a:r>
              <a:t>  'Az footer_author mezőbe írd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/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SZAKASZFEJLÉC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section_number      : fejezet sorszáma (pl. '03') – Garamond 72pt</a:t>
            </a:r>
          </a:p>
          <a:p>
            <a:r>
              <a:t>section_title       : fejezet neve (max 2 sor, Garamond 24pt fehér)</a:t>
            </a:r>
          </a:p>
          <a:p>
            <a:r>
              <a:t>section_description : jobb oldali rövid leírás (Calibri 16pt)</a:t>
            </a:r>
          </a:p>
          <a:p>
            <a:r>
              <a:t>bottom_stripe       : narancs alap sáv – NE módosítsd</a:t>
            </a:r>
          </a:p>
          <a:p>
            <a:r>
              <a:t>section_bg_left     : navy bal sáv – NE módosítsd</a:t>
            </a:r>
          </a:p>
          <a:p/>
          <a:p>
            <a:r>
              <a:t>Cowork utasítás:</a:t>
            </a:r>
          </a:p>
          <a:p>
            <a:r>
              <a:t>  'A section_number értékét cseréld: 03'</a:t>
            </a:r>
          </a:p>
          <a:p>
            <a:r>
              <a:t>  'A section_title szövege legyen: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KÉP + SZÖVEG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cím (max 1–2 sor, navy sávban)</a:t>
            </a:r>
          </a:p>
          <a:p>
            <a:r>
              <a:t>col_left_body    : bal oldali felsorolás</a:t>
            </a:r>
          </a:p>
          <a:p>
            <a:r>
              <a:t>col_right_image  : kép placeholder – cseréld le: </a:t>
            </a:r>
          </a:p>
          <a:p>
            <a:r>
              <a:t>                   slide.shapes['col_right_image'] törlése után</a:t>
            </a:r>
          </a:p>
          <a:p>
            <a:r>
              <a:t>                   slide.shapes.add_picture(...) ugyanazon koordinátákkal</a:t>
            </a:r>
          </a:p>
          <a:p>
            <a:r>
              <a:t>figure_caption   : '1. ábra: [szöveg]' – runs[0]=szám+prefix, runs[1]=szöveg</a:t>
            </a:r>
          </a:p>
          <a:p>
            <a:r>
              <a:t>col_separator    : CONNECTOR vonal – NE módosítsd</a:t>
            </a:r>
          </a:p>
          <a:p/>
          <a:p>
            <a:r>
              <a:t>Cowork koordináták:</a:t>
            </a:r>
          </a:p>
          <a:p>
            <a:r>
              <a:t>  kép bal széle : ML + CW*0.53 + GAP  ≈ 20.2 cm</a:t>
            </a:r>
          </a:p>
          <a:p>
            <a:r>
              <a:t>  kép teteje    : TITLE_H + 6mm = 36 mm</a:t>
            </a:r>
          </a:p>
          <a:p>
            <a:r>
              <a:t>  kép szélesség : ~14.8 cm</a:t>
            </a:r>
          </a:p>
          <a:p>
            <a:r>
              <a:t>  kép magassága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>                   l=ML=12mm, t=CT≈36mm, w=CW≈309mm, h≈133mm</a:t>
            </a:r>
          </a:p>
          <a:p>
            <a:r>
              <a:t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>                   runs[0].text = '1. ábra: '</a:t>
            </a:r>
          </a:p>
          <a:p>
            <a:r>
              <a:t>                   runs[1].text = 'a felirat szövege'</a:t>
            </a:r>
          </a:p>
          <a:p>
            <a:r>
              <a:t>figure_separator : CONNECTOR vonal – NE módosítsd</a:t>
            </a:r>
          </a:p>
          <a:p/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>                        runs[0].text = '1. táblázat: '</a:t>
            </a:r>
          </a:p>
          <a:p>
            <a:r>
              <a:t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>                        cella elérése: table.cell(sor, oszlop).text = ...</a:t>
            </a:r>
          </a:p>
          <a:p>
            <a:r>
              <a:t>                        fejléc: sor=0, adatok: sor=1..(ROWS-1)</a:t>
            </a:r>
          </a:p>
          <a:p/>
          <a:p>
            <a:r>
              <a:t>Sorok/oszlopok módosítása:</a:t>
            </a:r>
          </a:p>
          <a:p>
            <a:r>
              <a:t>  Sorokat a python-pptx nem tud dinamikusan hozzáadni –</a:t>
            </a:r>
          </a:p>
          <a:p>
            <a:r>
              <a:t>  a táblát törölve és újra létrehozva kell generálni.</a:t>
            </a:r>
          </a:p>
          <a:p>
            <a:r>
              <a:t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6144119" y="549000"/>
            <a:ext cx="5760000" cy="5760000"/>
          </a:xfrm>
          <a:prstGeom prst="rect">
            <a:avLst/>
          </a:prstGeom>
        </p:spPr>
      </p:pic>
      <p:pic>
        <p:nvPicPr>
          <p:cNvPr id="5" name="logo_small" descr="due_logo_pi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119" y="180000"/>
            <a:ext cx="864000" cy="864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aramond"/>
              </a:rPr>
              <a:t>Előadás főcíme:
Lorem ipsum dolor sit amet consectetur</a:t>
            </a: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D46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7A8A9E"/>
                </a:solidFill>
                <a:latin typeface="Calibri"/>
              </a:rPr>
              <a:t>Tantárgy neve – Intézet neve – Tanszék neve</a:t>
            </a: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556880"/>
                </a:solidFill>
                <a:latin typeface="Calibri"/>
              </a:rPr>
              <a:t>2026.05.20.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Első fejezet – Lorem ipsum dolor sit amet,
consectetur adipiscing elit,
sed do eiusmod tempor incididunt</a:t>
            </a:r>
          </a:p>
        </p:txBody>
      </p:sp>
      <p:pic>
        <p:nvPicPr>
          <p:cNvPr id="4" name="logo_small" descr="due_logo_p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119" y="144000"/>
            <a:ext cx="792000" cy="792000"/>
          </a:xfrm>
          <a:prstGeom prst="rect">
            <a:avLst/>
          </a:prstGeom>
        </p:spPr>
      </p:pic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49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50" b="1">
                <a:solidFill>
                  <a:srgbClr val="D4622A"/>
                </a:solidFill>
                <a:latin typeface="Calibri"/>
              </a:rPr>
              <a:t>▸  </a:t>
            </a:r>
            <a:r>
              <a:rPr sz="1350">
                <a:solidFill>
                  <a:srgbClr val="1A1A2E"/>
                </a:solidFill>
                <a:latin typeface="Calibri"/>
              </a:rPr>
              <a:t>Primus punctus: Lorem ipsum dolor sit amet, consectetur adipiscing elit, sed do eiusmod tempor incididunt ut labore et dolore magna aliqua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50" b="1">
                <a:solidFill>
                  <a:srgbClr val="D4622A"/>
                </a:solidFill>
                <a:latin typeface="Calibri"/>
              </a:rPr>
              <a:t>▸  </a:t>
            </a:r>
            <a:r>
              <a:rPr sz="1350">
                <a:solidFill>
                  <a:srgbClr val="1A1A2E"/>
                </a:solidFill>
                <a:latin typeface="Calibri"/>
              </a:rPr>
              <a:t>Secundus punctus: Ut enim ad minim veniam, quis nostrud exercitation ullamco laboris nisi ut aliquip ex ea commodo consequat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50" b="1">
                <a:solidFill>
                  <a:srgbClr val="D4622A"/>
                </a:solidFill>
                <a:latin typeface="Calibri"/>
              </a:rPr>
              <a:t>▸  </a:t>
            </a:r>
            <a:r>
              <a:rPr sz="1350">
                <a:solidFill>
                  <a:srgbClr val="1A1A2E"/>
                </a:solidFill>
                <a:latin typeface="Calibri"/>
              </a:rPr>
              <a:t>Tertius punctus: Duis aute irure dolor in reprehenderit in voluptate velit esse cillum dolore eu fugiat nulla pariatur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50" b="1">
                <a:solidFill>
                  <a:srgbClr val="D4622A"/>
                </a:solidFill>
                <a:latin typeface="Calibri"/>
              </a:rPr>
              <a:t>▸  </a:t>
            </a:r>
            <a:r>
              <a:rPr sz="1350">
                <a:solidFill>
                  <a:srgbClr val="1A1A2E"/>
                </a:solidFill>
                <a:latin typeface="Calibri"/>
              </a:rPr>
              <a:t>Quartus punctus: Excepteur sint occaecat cupidatat non proident, sunt in culpa qui officia deserunt mollit anim id est laborum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50" b="1">
                <a:solidFill>
                  <a:srgbClr val="D4622A"/>
                </a:solidFill>
                <a:latin typeface="Calibri"/>
              </a:rPr>
              <a:t>▸  </a:t>
            </a:r>
            <a:r>
              <a:rPr sz="1350">
                <a:solidFill>
                  <a:srgbClr val="1A1A2E"/>
                </a:solidFill>
                <a:latin typeface="Calibri"/>
              </a:rPr>
              <a:t>Quintus punctus: Sunt in culpa qui officia deserunt mollit anim, id est laborum lorem ipsum dolor sit amet consectetur adipiscing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_bg_left"/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section_accent_line"/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D462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/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D46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tion_number"/>
          <p:cNvSpPr txBox="1"/>
          <p:nvPr/>
        </p:nvSpPr>
        <p:spPr>
          <a:xfrm>
            <a:off x="432000" y="0"/>
            <a:ext cx="4256689" cy="667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>
                <a:solidFill>
                  <a:srgbClr val="D4622A"/>
                </a:solidFill>
                <a:latin typeface="Garamond"/>
              </a:rPr>
              <a:t>02</a:t>
            </a:r>
          </a:p>
        </p:txBody>
      </p:sp>
      <p:sp>
        <p:nvSpPr>
          <p:cNvPr id="6" name="section_title"/>
          <p:cNvSpPr txBox="1"/>
          <p:nvPr/>
        </p:nvSpPr>
        <p:spPr>
          <a:xfrm>
            <a:off x="432000" y="3566160"/>
            <a:ext cx="4544689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Garamond"/>
              </a:rPr>
              <a:t>Szakasz neve –
Lorem ipsum</a:t>
            </a:r>
          </a:p>
        </p:txBody>
      </p:sp>
      <p:sp>
        <p:nvSpPr>
          <p:cNvPr id="7" name="section_description"/>
          <p:cNvSpPr txBox="1"/>
          <p:nvPr/>
        </p:nvSpPr>
        <p:spPr>
          <a:xfrm>
            <a:off x="5768689" y="1714500"/>
            <a:ext cx="6279430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Ez a fejezet témájának
rövid összefoglalója.
Lorem ipsum dolor sit amet,
consectetur adipiscing elit.</a:t>
            </a:r>
          </a:p>
        </p:txBody>
      </p:sp>
      <p:pic>
        <p:nvPicPr>
          <p:cNvPr id="8" name="logo_small" descr="due_logo_p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119" y="180000"/>
            <a:ext cx="792000" cy="79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Kép és szöveg – Lorem ipsum dolor sit amet</a:t>
            </a:r>
          </a:p>
        </p:txBody>
      </p:sp>
      <p:pic>
        <p:nvPicPr>
          <p:cNvPr id="4" name="logo_small" descr="due_logo_p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119" y="144000"/>
            <a:ext cx="792000" cy="792000"/>
          </a:xfrm>
          <a:prstGeom prst="rect">
            <a:avLst/>
          </a:prstGeom>
        </p:spPr>
      </p:pic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/>
          <p:nvPr/>
        </p:nvCxnSpPr>
        <p:spPr>
          <a:xfrm>
            <a:off x="6615903" y="1296000"/>
            <a:ext cx="0" cy="498600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0" y="1296000"/>
            <a:ext cx="6003903" cy="49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D462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Calibri"/>
              </a:rPr>
              <a:t>Első pont: Lorem ipsum dolor sit amet, consectetur adipiscing elit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D462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Calibri"/>
              </a:rPr>
              <a:t>Második pont: Sed do eiusmod tempor incididunt ut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D462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Calibri"/>
              </a:rPr>
              <a:t>Harmadik pont: Ut enim ad minim veniam, quis nostrud exercitation ullamco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300" b="1">
                <a:solidFill>
                  <a:srgbClr val="D4622A"/>
                </a:solidFill>
                <a:latin typeface="Calibri"/>
              </a:rPr>
              <a:t>▸  </a:t>
            </a:r>
            <a:r>
              <a:rPr sz="1300">
                <a:solidFill>
                  <a:srgbClr val="1A1A2E"/>
                </a:solidFill>
                <a:latin typeface="Calibri"/>
              </a:rPr>
              <a:t>Negyedik pont: Duis aute irure dolor in reprehenderit in voluptate velit</a:t>
            </a:r>
          </a:p>
        </p:txBody>
      </p:sp>
      <p:sp>
        <p:nvSpPr>
          <p:cNvPr id="11" name="col_right_image"/>
          <p:cNvSpPr/>
          <p:nvPr/>
        </p:nvSpPr>
        <p:spPr>
          <a:xfrm>
            <a:off x="6795903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7A8A9E"/>
                </a:solidFill>
                <a:latin typeface="Calibri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6795903" y="5107500"/>
            <a:ext cx="496421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D4622A"/>
                </a:solidFill>
                <a:latin typeface="Calibri"/>
              </a:rPr>
              <a:t>1. ábra: </a:t>
            </a:r>
            <a:r>
              <a:rPr sz="1000" b="0" i="1">
                <a:solidFill>
                  <a:srgbClr val="4A5A6E"/>
                </a:solidFill>
                <a:latin typeface="Calibri"/>
              </a:rPr>
              <a:t>Az ábra rövid leírása lorem ipsum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pic>
        <p:nvPicPr>
          <p:cNvPr id="4" name="logo_small" descr="due_logo_p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119" y="144000"/>
            <a:ext cx="792000" cy="792000"/>
          </a:xfrm>
          <a:prstGeom prst="rect">
            <a:avLst/>
          </a:prstGeom>
        </p:spPr>
      </p:pic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1132811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7A8A9E"/>
                </a:solidFill>
                <a:latin typeface="Calibri"/>
              </a:rPr>
              <a:t>[Ábra helye – cseréld le add_picture()-rel]</a:t>
            </a:r>
          </a:p>
        </p:txBody>
      </p:sp>
      <p:cxnSp>
        <p:nvCxnSpPr>
          <p:cNvPr id="10" name="figure_separator"/>
          <p:cNvCxnSpPr/>
          <p:nvPr/>
        </p:nvCxnSpPr>
        <p:spPr>
          <a:xfrm>
            <a:off x="432000" y="5742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igure_caption"/>
          <p:cNvSpPr txBox="1"/>
          <p:nvPr/>
        </p:nvSpPr>
        <p:spPr>
          <a:xfrm>
            <a:off x="432000" y="5814000"/>
            <a:ext cx="11328119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D4622A"/>
                </a:solidFill>
                <a:latin typeface="Calibri"/>
              </a:rPr>
              <a:t>1. ábra: </a:t>
            </a:r>
            <a:r>
              <a:rPr sz="1000" b="0" i="1">
                <a:solidFill>
                  <a:srgbClr val="4A5A6E"/>
                </a:solidFill>
                <a:latin typeface="Calibri"/>
              </a:rPr>
              <a:t>Az ábra részletes felirata – lorem ipsum dolor sit amet consectetur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pic>
        <p:nvPicPr>
          <p:cNvPr id="4" name="logo_small" descr="due_logo_pi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6119" y="144000"/>
            <a:ext cx="792000" cy="792000"/>
          </a:xfrm>
          <a:prstGeom prst="rect">
            <a:avLst/>
          </a:prstGeom>
        </p:spPr>
      </p:pic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D4622A"/>
                </a:solidFill>
                <a:latin typeface="Calibri"/>
              </a:rPr>
              <a:t>1. táblázat: </a:t>
            </a:r>
            <a:r>
              <a:rPr sz="1000" b="0" i="1">
                <a:solidFill>
                  <a:srgbClr val="4A5A6E"/>
                </a:solidFill>
                <a:latin typeface="Calibri"/>
              </a:rPr>
              <a:t>Összefoglaló adatok – lorem ipsum measurement results</a:t>
            </a:r>
          </a:p>
        </p:txBody>
      </p:sp>
      <p:cxnSp>
        <p:nvCxnSpPr>
          <p:cNvPr id="10" name="table_title_separator"/>
          <p:cNvCxnSpPr/>
          <p:nvPr/>
        </p:nvCxnSpPr>
        <p:spPr>
          <a:xfrm>
            <a:off x="432000" y="1656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2000" y="1728000"/>
          <a:ext cx="11328119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029"/>
                <a:gridCol w="2832029"/>
                <a:gridCol w="2832029"/>
                <a:gridCol w="2832032"/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Paraméter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E"/>
                          </a:solidFill>
                          <a:latin typeface="Calibri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